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노트: 프로젝트 한 문장 소개</a:t>
            </a:r>
          </a:p>
          <a:p>
            <a:r>
              <a:t>이 프로젝트는 사진 안의 시각적 단서만 보고 위치 카테고리를 예측하는 딥러닝 이미지 분류 프로젝트입니다.</a:t>
            </a:r>
          </a:p>
          <a:p>
            <a:r>
              <a:t>중요한 점은 GPS 좌표나 EXIF 위치 정보를 쓰지 않는다는 것입니다. 즉, 사진 파일에 숨어 있는 위치 정보가 아니라 이미지 자체를 보고 판단합니다.</a:t>
            </a:r>
          </a:p>
          <a:p>
            <a:r>
              <a:t>ResNet50이라는 CNN 기반 사전학습 모델을 사용했고, 전체 과정은 로컬에서 실행됩니다.</a:t>
            </a:r>
          </a:p>
          <a:p>
            <a:r>
              <a:t>현재 학습 결과는 17개 위치 클래스, 전체 427장 이미지, 테스트 정확도 74.07%입니다.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노트: 문제 정의</a:t>
            </a:r>
          </a:p>
          <a:p>
            <a:r>
              <a:t>입력은 사진 한 장이고, 출력은 이 사진이 어느 위치 클래스에 가까운지에 대한 확률입니다.</a:t>
            </a:r>
          </a:p>
          <a:p>
            <a:r>
              <a:t>예를 들어 모델은 San Francisco 같은 정확한 GPS 좌표를 맞히는 것이 아니라, 학습된 후보 위치 중 어디에 가장 가까운지를 분류합니다.</a:t>
            </a:r>
          </a:p>
          <a:p>
            <a:r>
              <a:t>이 문제가 어려운 이유는 장소가 서로 비슷하게 보일 수 있고, 같은 장소라도 날씨, 시간, 각도에 따라 사진이 달라지기 때문입니다.</a:t>
            </a:r>
          </a:p>
          <a:p>
            <a:r>
              <a:t>그래서 이 프로젝트의 목표는 완벽한 지도 위치 예측이 아니라, 데이터 준비부터 학습, 평가, 데모까지 이어지는 딥러닝 파이프라인을 완성하는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노트: 데이터셋 설명</a:t>
            </a:r>
          </a:p>
          <a:p>
            <a:r>
              <a:t>데이터는 사용자가 미리 위치별 폴더로 수동 분류한 로컬 이미지입니다.</a:t>
            </a:r>
          </a:p>
          <a:p>
            <a:r>
              <a:t>각 폴더 이름이 하나의 클래스가 됩니다. 예를 들어 Yosemite라는 폴더가 있으면 Yosemite가 예측 가능한 클래스가 됩니다.</a:t>
            </a:r>
          </a:p>
          <a:p>
            <a:r>
              <a:t>prepare_dataset.py는 이미지 파일만 읽고 JSON, 동영상, 손상된 이미지는 제외합니다.</a:t>
            </a:r>
          </a:p>
          <a:p>
            <a:r>
              <a:t>전체 데이터는 70% train, 15% validation, 15% test로 나눴습니다. 이번 학습에서는 train 290장, validation 56장, test 81장이 사용됐습니다.</a:t>
            </a:r>
          </a:p>
          <a:p>
            <a:r>
              <a:t>주의할 점은 클래스 불균형입니다. 어떤 위치는 사진이 많고 어떤 위치는 매우 적어서, 성능 해석에 영향을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노트: 전체 파이프라인</a:t>
            </a:r>
          </a:p>
          <a:p>
            <a:r>
              <a:t>파이프라인은 data/raw에서 시작합니다. 위치별 폴더에 들어 있는 이미지를 읽고, data/processed에 train/val/test 구조로 다시 저장합니다.</a:t>
            </a:r>
          </a:p>
          <a:p>
            <a:r>
              <a:t>그 다음 ResNet50 모델을 학습하고, validation accuracy가 가장 좋은 모델을 best_resnet50.pth로 저장합니다.</a:t>
            </a:r>
          </a:p>
          <a:p>
            <a:r>
              <a:t>평가 단계에서는 test set으로 accuracy, precision, recall, F1-score, confusion matrix를 계산합니다.</a:t>
            </a:r>
          </a:p>
          <a:p>
            <a:r>
              <a:t>마지막으로 Streamlit UI에서 새 사진을 업로드하고 top-3 예측과 Grad-CAM을 확인합니다.</a:t>
            </a:r>
          </a:p>
          <a:p>
            <a:r>
              <a:t>이 모든 과정은 외부 AI API가 아니라 로컬 PyTorch 코드로 실행됩니다.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노트: ResNet50 모델 설명</a:t>
            </a:r>
          </a:p>
          <a:p>
            <a:r>
              <a:t>ResNet50은 CNN, 즉 Convolutional Neural Network 기반 이미지 분류 모델입니다.</a:t>
            </a:r>
          </a:p>
          <a:p>
            <a:r>
              <a:t>CNN은 이미지의 작은 패턴부터 시작해서 선, 색, 질감, 모양, 장면 구조 같은 특징을 단계적으로 추출합니다.</a:t>
            </a:r>
          </a:p>
          <a:p>
            <a:r>
              <a:t>ResNet의 핵심 아이디어는 residual connection입니다. 층이 깊어져도 학습이 잘 되도록 입력 정보를 일부 건너뛰어 전달하는 구조입니다.</a:t>
            </a:r>
          </a:p>
          <a:p>
            <a:r>
              <a:t>이번 프로젝트에서는 ImageNet으로 사전학습된 ResNet50을 가져왔습니다. ImageNet 사전학습이란 이미 대규모 이미지 데이터로 일반적인 시각 특징을 배운 상태라는 뜻입니다.</a:t>
            </a:r>
          </a:p>
          <a:p>
            <a:r>
              <a:t>기존 ResNet50의 마지막 분류층은 ImageNet 1000개 클래스를 위한 것이므로, 이 부분을 우리 데이터의 17개 위치 클래스로 바꿨습니다.</a:t>
            </a:r>
          </a:p>
          <a:p>
            <a:r>
              <a:t>이 방식을 전이학습이라고 합니다. 이미 배운 시각 특징은 활용하고, 마지막 분류 부분만 새로운 문제에 맞게 다시 학습하는 방식입니다.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노트: 학습 설정 설명</a:t>
            </a:r>
          </a:p>
          <a:p>
            <a:r>
              <a:t>학습은 두 단계로 진행했습니다.</a:t>
            </a:r>
          </a:p>
          <a:p>
            <a:r>
              <a:t>첫 번째 단계는 classifier head 학습입니다. ResNet50의 CNN backbone은 고정하고, 마지막 fully connected layer만 학습했습니다. 이렇게 하면 작은 데이터셋에서 과적합을 줄일 수 있습니다.</a:t>
            </a:r>
          </a:p>
          <a:p>
            <a:r>
              <a:t>두 번째 단계는 fine-tuning입니다. 마지막 ResNet block인 layer4를 열어서 우리 위치 데이터에 조금 더 맞게 조정했습니다.</a:t>
            </a:r>
          </a:p>
          <a:p>
            <a:r>
              <a:t>Loss는 CrossEntropyLoss를 사용했습니다. 다중 클래스 분류에서 예측 확률이 정답 클래스와 얼마나 다른지 측정하는 손실 함수입니다.</a:t>
            </a:r>
          </a:p>
          <a:p>
            <a:r>
              <a:t>Optimizer는 Adam을 사용했습니다. Adam은 학습률을 적응적으로 조절해서 딥러닝에서 자주 쓰이는 최적화 방법입니다.</a:t>
            </a:r>
          </a:p>
          <a:p>
            <a:r>
              <a:t>Best model은 validation accuracy가 가장 높은 epoch의 모델입니다. 이번 결과에서는 epoch 8이 best checkpoint였습니다.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노트: 결과 수치 해석</a:t>
            </a:r>
          </a:p>
          <a:p>
            <a:r>
              <a:t>Validation accuracy 82.14%는 학습 중 validation set에서 가장 좋았던 정확도입니다. 이 값을 기준으로 best model을 저장했습니다.</a:t>
            </a:r>
          </a:p>
          <a:p>
            <a:r>
              <a:t>Test accuracy 74.07%는 학습과 모델 선택에 사용하지 않은 test set에서의 최종 성능입니다. 따라서 실제 일반화 성능에 더 가까운 숫자입니다.</a:t>
            </a:r>
          </a:p>
          <a:p>
            <a:r>
              <a:t>Macro F1 0.68은 각 클래스를 같은 비중으로 평균낸 F1-score입니다. 클래스별 데이터 수가 불균형할 때 특히 중요합니다.</a:t>
            </a:r>
          </a:p>
          <a:p>
            <a:r>
              <a:t>Weighted F1 0.71은 클래스별 샘플 수를 반영한 평균입니다. 사진이 많은 클래스가 더 큰 영향을 줍니다.</a:t>
            </a:r>
          </a:p>
          <a:p>
            <a:r>
              <a:t>그래프에서 loss가 줄고 accuracy가 올라가는 흐름은 모델이 학습되고 있다는 신호입니다. 다만 validation보다 test가 낮기 때문에 일반화에는 아직 한계가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노트: 평가 지표와 혼동 행렬</a:t>
            </a:r>
          </a:p>
          <a:p>
            <a:r>
              <a:t>Accuracy는 전체 테스트 이미지 중 맞춘 비율입니다. 직관적이지만 클래스 불균형이 있으면 충분하지 않을 수 있습니다.</a:t>
            </a:r>
          </a:p>
          <a:p>
            <a:r>
              <a:t>Precision은 모델이 어떤 클래스로 예측한 것 중 실제로 맞은 비율입니다. 예를 들어 Yosemite라고 예측한 사진 중 진짜 Yosemite가 얼마나 되는지를 봅니다.</a:t>
            </a:r>
          </a:p>
          <a:p>
            <a:r>
              <a:t>Recall은 실제 해당 클래스 사진 중 모델이 찾아낸 비율입니다. 예를 들어 실제 Yosemite 사진 중 모델이 Yosemite라고 맞힌 비율입니다.</a:t>
            </a:r>
          </a:p>
          <a:p>
            <a:r>
              <a:t>F1-score는 precision과 recall의 균형을 보는 지표입니다. 둘 중 하나만 높아서는 좋은 모델이라고 보기 어렵기 때문에 F1을 함께 봅니다.</a:t>
            </a:r>
          </a:p>
          <a:p>
            <a:r>
              <a:t>Confusion matrix는 어떤 클래스가 어떤 클래스로 헷갈렸는지 보여주는 표입니다. 대각선 값이 많을수록 잘 맞힌 것이고, 대각선 밖의 값은 오분류입니다.</a:t>
            </a:r>
          </a:p>
          <a:p>
            <a:r>
              <a:t>이번 결과에서는 일부 클래스의 F1이 낮습니다. 특히 테스트 이미지 수가 적거나 시각적으로 비슷한 클래스는 성능이 불안정할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노트: 시연 방법</a:t>
            </a:r>
          </a:p>
          <a:p>
            <a:r>
              <a:t>시연은 Streamlit UI에서 진행하면 됩니다. 먼저 Data &amp; Training 탭은 데이터 준비와 학습 실행을 보여주는 탭입니다.</a:t>
            </a:r>
          </a:p>
          <a:p>
            <a:r>
              <a:t>이미 학습이 끝났다면 Training Results 탭에서 학습 곡선, classification report, confusion matrix를 보여주면 됩니다.</a:t>
            </a:r>
          </a:p>
          <a:p>
            <a:r>
              <a:t>Photo Prediction 탭에서는 새 사진을 업로드하고 top-3 예측 결과를 보여줍니다. top-3는 가장 가능성이 높은 위치 후보 3개와 확률입니다.</a:t>
            </a:r>
          </a:p>
          <a:p>
            <a:r>
              <a:t>Grad-CAM은 모델이 이미지의 어느 부분을 보고 판단했는지 보여주는 설명 가능성 기법입니다.</a:t>
            </a:r>
          </a:p>
          <a:p>
            <a:r>
              <a:t>발표할 때는 “이 heatmap이 밝은 부분일수록 모델 판단에 더 영향을 준 영역입니다”라고 설명하면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노트: 한계와 개선 방향</a:t>
            </a:r>
          </a:p>
          <a:p>
            <a:r>
              <a:t>이번 프로젝트의 장점은 작은 데이터셋으로도 end-to-end 딥러닝 시스템을 완성했다는 점입니다.</a:t>
            </a:r>
          </a:p>
          <a:p>
            <a:r>
              <a:t>하지만 한계도 명확합니다. 클래스별 사진 수가 균형적이지 않고, 어떤 클래스는 테스트 이미지가 2~5장 정도로 매우 적습니다.</a:t>
            </a:r>
          </a:p>
          <a:p>
            <a:r>
              <a:t>그래서 특정 클래스의 precision, recall, F1-score는 데이터 수에 따라 크게 흔들릴 수 있습니다.</a:t>
            </a:r>
          </a:p>
          <a:p>
            <a:r>
              <a:t>개선 방향으로는 클래스별 사진 수를 균형 있게 늘리고, 비슷한 장소를 더 잘 구분할 수 있도록 다양한 각도와 조명의 사진을 추가하는 것이 있습니다.</a:t>
            </a:r>
          </a:p>
          <a:p>
            <a:r>
              <a:t>또한 EfficientNetB0나 Vision Transformer와 비교해서 ResNet50이 가장 좋은 선택인지 실험해볼 수 있습니다.</a:t>
            </a:r>
          </a:p>
          <a:p>
            <a:r>
              <a:t>마지막으로 unknown threshold를 추가하면, 학습된 위치 중 어느 곳에도 확신이 없을 때 “모름”이라고 답하게 만들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685800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Photo Geolocation
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057400"/>
            <a:ext cx="64008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4A340"/>
                </a:solidFill>
                <a:latin typeface="Apple SD Gothic Neo"/>
              </a:rPr>
              <a:t>using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651760"/>
            <a:ext cx="676656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ple SD Gothic Neo"/>
              </a:rPr>
              <a:t>EXIF GPS 없이 사진 자체의 시각적 특징으로 위치 카테고리를 예측하는 ResNet50 전이학습 프로젝트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1920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2F6BFF"/>
                </a:solidFill>
                <a:latin typeface="Apple SD Gothic Neo"/>
              </a:rPr>
              <a:t>17</a:t>
            </a:r>
          </a:p>
          <a:p>
            <a:pPr algn="ctr"/>
            <a:r>
              <a:rPr sz="1200" b="1">
                <a:solidFill>
                  <a:srgbClr val="17212B"/>
                </a:solidFill>
                <a:latin typeface="Apple SD Gothic Neo"/>
              </a:rPr>
              <a:t>위치 클래스</a:t>
            </a:r>
          </a:p>
          <a:p>
            <a:pPr algn="ctr"/>
            <a:r>
              <a:rPr sz="900" b="0">
                <a:solidFill>
                  <a:srgbClr val="5E6975"/>
                </a:solidFill>
                <a:latin typeface="Apple SD Gothic Neo"/>
              </a:rPr>
              <a:t>수동 분류된 로컬 사진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4572000"/>
            <a:ext cx="1920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4A340"/>
                </a:solidFill>
                <a:latin typeface="Apple SD Gothic Neo"/>
              </a:rPr>
              <a:t>427</a:t>
            </a:r>
          </a:p>
          <a:p>
            <a:pPr algn="ctr"/>
            <a:r>
              <a:rPr sz="1200" b="1">
                <a:solidFill>
                  <a:srgbClr val="17212B"/>
                </a:solidFill>
                <a:latin typeface="Apple SD Gothic Neo"/>
              </a:rPr>
              <a:t>전체 이미지</a:t>
            </a:r>
          </a:p>
          <a:p>
            <a:pPr algn="ctr"/>
            <a:r>
              <a:rPr sz="900" b="0">
                <a:solidFill>
                  <a:srgbClr val="5E6975"/>
                </a:solidFill>
                <a:latin typeface="Apple SD Gothic Neo"/>
              </a:rPr>
              <a:t>train/val/test 분할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4572000"/>
            <a:ext cx="1920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2E8B57"/>
                </a:solidFill>
                <a:latin typeface="Apple SD Gothic Neo"/>
              </a:rPr>
              <a:t>74.07%</a:t>
            </a:r>
          </a:p>
          <a:p>
            <a:pPr algn="ctr"/>
            <a:r>
              <a:rPr sz="1200" b="1">
                <a:solidFill>
                  <a:srgbClr val="17212B"/>
                </a:solidFill>
                <a:latin typeface="Apple SD Gothic Neo"/>
              </a:rPr>
              <a:t>Test Accuracy</a:t>
            </a:r>
          </a:p>
          <a:p>
            <a:pPr algn="ctr"/>
            <a:r>
              <a:rPr sz="900" b="0">
                <a:solidFill>
                  <a:srgbClr val="5E6975"/>
                </a:solidFill>
                <a:latin typeface="Apple SD Gothic Neo"/>
              </a:rPr>
              <a:t>학습에 쓰지 않은 테스트셋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5074920"/>
            <a:ext cx="292608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ple SD Gothic Neo"/>
              </a:rPr>
              <a:t>Demo: Streamlit UI에서 학습 결과와 예측을 시연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2860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6BFF"/>
                </a:solidFill>
                <a:latin typeface="Apple SD Gothic Neo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8686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Apple SD Gothic Neo"/>
              </a:rPr>
              <a:t>GPS 메타데이터 없이 사진만 보고 위치를 맞춘다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320040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600" b="1">
                <a:solidFill>
                  <a:srgbClr val="2F6BFF"/>
                </a:solidFill>
                <a:latin typeface="Apple SD Gothic Neo"/>
              </a:rPr>
              <a:t>문제 정의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입력: 사진 한 장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출력: 위치 클래스별 확률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GPS/EXIF 정보는 사용하지 않음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2011680"/>
            <a:ext cx="31089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600" b="1">
                <a:solidFill>
                  <a:srgbClr val="F4A340"/>
                </a:solidFill>
                <a:latin typeface="Apple SD Gothic Neo"/>
              </a:rPr>
              <a:t>왜 어려운가?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장소 간 시각적 유사성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날씨/조명/각도 차이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개인 사진의 데이터 불균형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2011680"/>
            <a:ext cx="35661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600" b="1">
                <a:solidFill>
                  <a:srgbClr val="2E8B57"/>
                </a:solidFill>
                <a:latin typeface="Apple SD Gothic Neo"/>
              </a:rPr>
              <a:t>프로젝트 목표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작은 데이터셋으로 완성형 파이프라인 구현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학습, 평가, 예측, 데모 연결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설명 가능한 Grad-CAM 포함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8813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E6975"/>
                </a:solidFill>
                <a:latin typeface="Apple SD Gothic Neo"/>
              </a:rPr>
              <a:t>Photo Geolocation Prediction using Deep Learning   |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2860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6BFF"/>
                </a:solidFill>
                <a:latin typeface="Apple SD Gothic Neo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8686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Apple SD Gothic Neo"/>
              </a:rPr>
              <a:t>위치별로 수동 분류한 로컬 사진 폴더를 학습 데이터로 만들었다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16459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2F6BFF"/>
                </a:solidFill>
                <a:latin typeface="Apple SD Gothic Neo"/>
              </a:rPr>
              <a:t>290</a:t>
            </a:r>
          </a:p>
          <a:p>
            <a:pPr algn="ctr"/>
            <a:r>
              <a:rPr sz="1200" b="1">
                <a:solidFill>
                  <a:srgbClr val="17212B"/>
                </a:solidFill>
                <a:latin typeface="Apple SD Gothic Neo"/>
              </a:rPr>
              <a:t>Train</a:t>
            </a:r>
          </a:p>
          <a:p>
            <a:pPr algn="ctr"/>
            <a:r>
              <a:rPr sz="900" b="0">
                <a:solidFill>
                  <a:srgbClr val="5E6975"/>
                </a:solidFill>
                <a:latin typeface="Apple SD Gothic Neo"/>
              </a:rPr>
              <a:t>모델 학습용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828800"/>
            <a:ext cx="16459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4A340"/>
                </a:solidFill>
                <a:latin typeface="Apple SD Gothic Neo"/>
              </a:rPr>
              <a:t>56</a:t>
            </a:r>
          </a:p>
          <a:p>
            <a:pPr algn="ctr"/>
            <a:r>
              <a:rPr sz="1200" b="1">
                <a:solidFill>
                  <a:srgbClr val="17212B"/>
                </a:solidFill>
                <a:latin typeface="Apple SD Gothic Neo"/>
              </a:rPr>
              <a:t>Validation</a:t>
            </a:r>
          </a:p>
          <a:p>
            <a:pPr algn="ctr"/>
            <a:r>
              <a:rPr sz="900" b="0">
                <a:solidFill>
                  <a:srgbClr val="5E6975"/>
                </a:solidFill>
                <a:latin typeface="Apple SD Gothic Neo"/>
              </a:rPr>
              <a:t>best model 선택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828800"/>
            <a:ext cx="16459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2E8B57"/>
                </a:solidFill>
                <a:latin typeface="Apple SD Gothic Neo"/>
              </a:rPr>
              <a:t>81</a:t>
            </a:r>
          </a:p>
          <a:p>
            <a:pPr algn="ctr"/>
            <a:r>
              <a:rPr sz="1200" b="1">
                <a:solidFill>
                  <a:srgbClr val="17212B"/>
                </a:solidFill>
                <a:latin typeface="Apple SD Gothic Neo"/>
              </a:rPr>
              <a:t>Test</a:t>
            </a:r>
          </a:p>
          <a:p>
            <a:pPr algn="ctr"/>
            <a:r>
              <a:rPr sz="900" b="0">
                <a:solidFill>
                  <a:srgbClr val="5E6975"/>
                </a:solidFill>
                <a:latin typeface="Apple SD Gothic Neo"/>
              </a:rPr>
              <a:t>최종 평가용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828800"/>
            <a:ext cx="16459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D95D5D"/>
                </a:solidFill>
                <a:latin typeface="Apple SD Gothic Neo"/>
              </a:rPr>
              <a:t>17</a:t>
            </a:r>
          </a:p>
          <a:p>
            <a:pPr algn="ctr"/>
            <a:r>
              <a:rPr sz="1200" b="1">
                <a:solidFill>
                  <a:srgbClr val="17212B"/>
                </a:solidFill>
                <a:latin typeface="Apple SD Gothic Neo"/>
              </a:rPr>
              <a:t>Classes</a:t>
            </a:r>
          </a:p>
          <a:p>
            <a:pPr algn="ctr"/>
            <a:r>
              <a:rPr sz="900" b="0">
                <a:solidFill>
                  <a:srgbClr val="5E6975"/>
                </a:solidFill>
                <a:latin typeface="Apple SD Gothic Neo"/>
              </a:rPr>
              <a:t>위치 카테고리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291840"/>
            <a:ext cx="47548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600" b="1">
                <a:solidFill>
                  <a:srgbClr val="2F6BFF"/>
                </a:solidFill>
                <a:latin typeface="Apple SD Gothic Neo"/>
              </a:rPr>
              <a:t>전처리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JSON과 동영상은 제외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손상된 이미지는 skip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224x224로 변환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ImageNet mean/std 정규화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3291840"/>
            <a:ext cx="47548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600" b="1">
                <a:solidFill>
                  <a:srgbClr val="D95D5D"/>
                </a:solidFill>
                <a:latin typeface="Apple SD Gothic Neo"/>
              </a:rPr>
              <a:t>중요한 관찰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Golfland USA는 train 110장으로 가장 많음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일부 클래스는 test 2~5장뿐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결과 해석 시 클래스 불균형 고려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65392"/>
            <a:ext cx="108813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E6975"/>
                </a:solidFill>
                <a:latin typeface="Apple SD Gothic Neo"/>
              </a:rPr>
              <a:t>Photo Geolocation Prediction using Deep Learning   |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2860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6BFF"/>
                </a:solidFill>
                <a:latin typeface="Apple SD Gothic Neo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8686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Apple SD Gothic Neo"/>
              </a:rPr>
              <a:t>데이터 준비부터 데모까지 하나의 로컬 딥러닝 시스템으로 연결했다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423160"/>
            <a:ext cx="16002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400" b="1">
                <a:solidFill>
                  <a:srgbClr val="2F6BFF"/>
                </a:solidFill>
                <a:latin typeface="Apple SD Gothic Neo"/>
              </a:rPr>
              <a:t>Raw
photos</a:t>
            </a:r>
          </a:p>
          <a:p>
            <a:r>
              <a:rPr sz="1200" b="0">
                <a:solidFill>
                  <a:srgbClr val="5E6975"/>
                </a:solidFill>
                <a:latin typeface="Apple SD Gothic Neo"/>
              </a:rPr>
              <a:t>data/raw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2743200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F6BFF"/>
                </a:solidFill>
                <a:latin typeface="Apple SD Gothic Neo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423160"/>
            <a:ext cx="16002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400" b="1">
                <a:solidFill>
                  <a:srgbClr val="2F6BFF"/>
                </a:solidFill>
                <a:latin typeface="Apple SD Gothic Neo"/>
              </a:rPr>
              <a:t>Prepare
dataset</a:t>
            </a:r>
          </a:p>
          <a:p>
            <a:r>
              <a:rPr sz="1200" b="0">
                <a:solidFill>
                  <a:srgbClr val="5E6975"/>
                </a:solidFill>
                <a:latin typeface="Apple SD Gothic Neo"/>
              </a:rPr>
              <a:t>70/15/15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743200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F6BFF"/>
                </a:solidFill>
                <a:latin typeface="Apple SD Gothic Neo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2423160"/>
            <a:ext cx="16002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400" b="1">
                <a:solidFill>
                  <a:srgbClr val="2F6BFF"/>
                </a:solidFill>
                <a:latin typeface="Apple SD Gothic Neo"/>
              </a:rPr>
              <a:t>ResNet50</a:t>
            </a:r>
          </a:p>
          <a:p>
            <a:r>
              <a:rPr sz="1200" b="0">
                <a:solidFill>
                  <a:srgbClr val="5E6975"/>
                </a:solidFill>
                <a:latin typeface="Apple SD Gothic Neo"/>
              </a:rPr>
              <a:t>transfer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79" y="2743200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F6BFF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199" y="2423160"/>
            <a:ext cx="16002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400" b="1">
                <a:solidFill>
                  <a:srgbClr val="2F6BFF"/>
                </a:solidFill>
                <a:latin typeface="Apple SD Gothic Neo"/>
              </a:rPr>
              <a:t>Evaluate</a:t>
            </a:r>
          </a:p>
          <a:p>
            <a:r>
              <a:rPr sz="1200" b="0">
                <a:solidFill>
                  <a:srgbClr val="5E6975"/>
                </a:solidFill>
                <a:latin typeface="Apple SD Gothic Neo"/>
              </a:rPr>
              <a:t>accuracy +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743200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F6BFF"/>
                </a:solidFill>
                <a:latin typeface="Apple SD Gothic Neo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2423160"/>
            <a:ext cx="16002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400" b="1">
                <a:solidFill>
                  <a:srgbClr val="2F6BFF"/>
                </a:solidFill>
                <a:latin typeface="Apple SD Gothic Neo"/>
              </a:rPr>
              <a:t>Demo UI</a:t>
            </a:r>
          </a:p>
          <a:p>
            <a:r>
              <a:rPr sz="1200" b="0">
                <a:solidFill>
                  <a:srgbClr val="5E6975"/>
                </a:solidFill>
                <a:latin typeface="Apple SD Gothic Neo"/>
              </a:rPr>
              <a:t>Streamlit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572000"/>
            <a:ext cx="93268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600" b="1">
                <a:solidFill>
                  <a:srgbClr val="2E8B57"/>
                </a:solidFill>
                <a:latin typeface="Apple SD Gothic Neo"/>
              </a:rPr>
              <a:t>핵심 원칙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온라인 사진 서비스나 외부 AI API를 사용하지 않고, 로컬 폴더와 로컬 PyTorch 학습만 사용한다.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65392"/>
            <a:ext cx="108813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E6975"/>
                </a:solidFill>
                <a:latin typeface="Apple SD Gothic Neo"/>
              </a:rPr>
              <a:t>Photo Geolocation Prediction using Deep Learning   |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2860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6BFF"/>
                </a:solidFill>
                <a:latin typeface="Apple SD Gothic Neo"/>
              </a:rPr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8686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Apple SD Gothic Neo"/>
              </a:rPr>
              <a:t>ImageNet으로 사전학습된 ResNet50을 위치 분류기로 바꿨다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23160"/>
            <a:ext cx="19659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400" b="1">
                <a:solidFill>
                  <a:srgbClr val="2F6BFF"/>
                </a:solidFill>
                <a:latin typeface="Apple SD Gothic Neo"/>
              </a:rPr>
              <a:t>Input
224x224</a:t>
            </a:r>
          </a:p>
          <a:p>
            <a:r>
              <a:rPr sz="1200" b="0">
                <a:solidFill>
                  <a:srgbClr val="5E6975"/>
                </a:solidFill>
                <a:latin typeface="Apple SD Gothic Neo"/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743200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7212B"/>
                </a:solidFill>
                <a:latin typeface="Apple SD Gothic Neo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2423160"/>
            <a:ext cx="19659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400" b="1">
                <a:solidFill>
                  <a:srgbClr val="2F6BFF"/>
                </a:solidFill>
                <a:latin typeface="Apple SD Gothic Neo"/>
              </a:rPr>
              <a:t>ResNet50
Backbone</a:t>
            </a:r>
          </a:p>
          <a:p>
            <a:r>
              <a:rPr sz="1200" b="0">
                <a:solidFill>
                  <a:srgbClr val="5E6975"/>
                </a:solidFill>
                <a:latin typeface="Apple SD Gothic Neo"/>
              </a:rPr>
              <a:t>시각 특징 추출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743200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7212B"/>
                </a:solidFill>
                <a:latin typeface="Apple SD Gothic Neo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423160"/>
            <a:ext cx="19659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400" b="1">
                <a:solidFill>
                  <a:srgbClr val="F4A340"/>
                </a:solidFill>
                <a:latin typeface="Apple SD Gothic Neo"/>
              </a:rPr>
              <a:t>New FC
Layer</a:t>
            </a:r>
          </a:p>
          <a:p>
            <a:r>
              <a:rPr sz="1200" b="0">
                <a:solidFill>
                  <a:srgbClr val="5E6975"/>
                </a:solidFill>
                <a:latin typeface="Apple SD Gothic Neo"/>
              </a:rPr>
              <a:t>17개 위치 클래스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743200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7212B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59" y="2423160"/>
            <a:ext cx="19659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400" b="1">
                <a:solidFill>
                  <a:srgbClr val="2E8B57"/>
                </a:solidFill>
                <a:latin typeface="Apple SD Gothic Neo"/>
              </a:rPr>
              <a:t>Softmax</a:t>
            </a:r>
          </a:p>
          <a:p>
            <a:r>
              <a:rPr sz="1200" b="0">
                <a:solidFill>
                  <a:srgbClr val="5E6975"/>
                </a:solidFill>
                <a:latin typeface="Apple SD Gothic Neo"/>
              </a:rPr>
              <a:t>확률 출력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4297680"/>
            <a:ext cx="99669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600" b="1">
                <a:solidFill>
                  <a:srgbClr val="2F6BFF"/>
                </a:solidFill>
                <a:latin typeface="Apple SD Gothic Neo"/>
              </a:rPr>
              <a:t>발표 설명 문장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ResNet50은 CNN 기반 이미지 분류 모델이며, 사전학습된 일반 이미지 특징을 활용해 작은 데이터셋에서도 학습을 시작하기 좋습니다.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65392"/>
            <a:ext cx="108813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E6975"/>
                </a:solidFill>
                <a:latin typeface="Apple SD Gothic Neo"/>
              </a:rPr>
              <a:t>Photo Geolocation Prediction using Deep Learning   | 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2860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6BFF"/>
                </a:solidFill>
                <a:latin typeface="Apple SD Gothic Neo"/>
              </a:rPr>
              <a:t>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8686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Apple SD Gothic Neo"/>
              </a:rPr>
              <a:t>처음에는 분류기만, 이후에는 마지막 ResNet 블록까지 미세조정했다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74519"/>
            <a:ext cx="46634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500" b="1">
                <a:solidFill>
                  <a:srgbClr val="2F6BFF"/>
                </a:solidFill>
                <a:latin typeface="Apple SD Gothic Neo"/>
              </a:rPr>
              <a:t>1단계: Classifier Head</a:t>
            </a:r>
          </a:p>
          <a:p>
            <a:r>
              <a:rPr sz="1300" b="0">
                <a:solidFill>
                  <a:srgbClr val="5E6975"/>
                </a:solidFill>
                <a:latin typeface="Apple SD Gothic Neo"/>
              </a:rPr>
              <a:t>Epoch 1-5</a:t>
            </a:r>
          </a:p>
          <a:p>
            <a:r>
              <a:rPr sz="1300" b="0">
                <a:solidFill>
                  <a:srgbClr val="5E6975"/>
                </a:solidFill>
                <a:latin typeface="Apple SD Gothic Neo"/>
              </a:rPr>
              <a:t>Backbone은 고정하고 마지막 분류층만 학습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74519"/>
            <a:ext cx="46634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500" b="1">
                <a:solidFill>
                  <a:srgbClr val="F4A340"/>
                </a:solidFill>
                <a:latin typeface="Apple SD Gothic Neo"/>
              </a:rPr>
              <a:t>2단계: Fine-tuning</a:t>
            </a:r>
          </a:p>
          <a:p>
            <a:r>
              <a:rPr sz="1300" b="0">
                <a:solidFill>
                  <a:srgbClr val="5E6975"/>
                </a:solidFill>
                <a:latin typeface="Apple SD Gothic Neo"/>
              </a:rPr>
              <a:t>Epoch 6-8</a:t>
            </a:r>
          </a:p>
          <a:p>
            <a:r>
              <a:rPr sz="1300" b="0">
                <a:solidFill>
                  <a:srgbClr val="5E6975"/>
                </a:solidFill>
                <a:latin typeface="Apple SD Gothic Neo"/>
              </a:rPr>
              <a:t>ResNet layer4를 열어 위치 데이터에 맞게 조정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466344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600" b="1">
                <a:solidFill>
                  <a:srgbClr val="2F6BFF"/>
                </a:solidFill>
                <a:latin typeface="Apple SD Gothic Neo"/>
              </a:rPr>
              <a:t>주요 설정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Loss: CrossEntropyLoss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Optimizer: Adam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Batch size: UI 기본 16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Best model 기준: validation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840480"/>
            <a:ext cx="466344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600" b="1">
                <a:solidFill>
                  <a:srgbClr val="2E8B57"/>
                </a:solidFill>
                <a:latin typeface="Apple SD Gothic Neo"/>
              </a:rPr>
              <a:t>왜 이렇게 했나?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처음부터 전체 모델을 학습하면 과적합 위험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분류기 먼저 적응 후 일부 CNN block만 조정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작은 데이터셋에 적합한 전이학습 전략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108813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E6975"/>
                </a:solidFill>
                <a:latin typeface="Apple SD Gothic Neo"/>
              </a:rPr>
              <a:t>Photo Geolocation Prediction using Deep Learning   |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2860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6BFF"/>
                </a:solidFill>
                <a:latin typeface="Apple SD Gothic Neo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8686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Apple SD Gothic Neo"/>
              </a:rPr>
              <a:t>검증 정확도는 82.14%, 테스트 정확도는 74.07%로 마무리됐다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16459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2F6BFF"/>
                </a:solidFill>
                <a:latin typeface="Apple SD Gothic Neo"/>
              </a:rPr>
              <a:t>82.14%</a:t>
            </a:r>
          </a:p>
          <a:p>
            <a:pPr algn="ctr"/>
            <a:r>
              <a:rPr sz="1200" b="1">
                <a:solidFill>
                  <a:srgbClr val="17212B"/>
                </a:solidFill>
                <a:latin typeface="Apple SD Gothic Neo"/>
              </a:rPr>
              <a:t>Best Val Acc</a:t>
            </a:r>
          </a:p>
          <a:p>
            <a:pPr algn="ctr"/>
            <a:r>
              <a:rPr sz="900" b="0">
                <a:solidFill>
                  <a:srgbClr val="5E6975"/>
                </a:solidFill>
                <a:latin typeface="Apple SD Gothic Neo"/>
              </a:rPr>
              <a:t>epoch 8 checkpoint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691640"/>
            <a:ext cx="16459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2E8B57"/>
                </a:solidFill>
                <a:latin typeface="Apple SD Gothic Neo"/>
              </a:rPr>
              <a:t>74.07%</a:t>
            </a:r>
          </a:p>
          <a:p>
            <a:pPr algn="ctr"/>
            <a:r>
              <a:rPr sz="1200" b="1">
                <a:solidFill>
                  <a:srgbClr val="17212B"/>
                </a:solidFill>
                <a:latin typeface="Apple SD Gothic Neo"/>
              </a:rPr>
              <a:t>Test Acc</a:t>
            </a:r>
          </a:p>
          <a:p>
            <a:pPr algn="ctr"/>
            <a:r>
              <a:rPr sz="900" b="0">
                <a:solidFill>
                  <a:srgbClr val="5E6975"/>
                </a:solidFill>
                <a:latin typeface="Apple SD Gothic Neo"/>
              </a:rPr>
              <a:t>81 test images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691640"/>
            <a:ext cx="16459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4A340"/>
                </a:solidFill>
                <a:latin typeface="Apple SD Gothic Neo"/>
              </a:rPr>
              <a:t>0.68</a:t>
            </a:r>
          </a:p>
          <a:p>
            <a:pPr algn="ctr"/>
            <a:r>
              <a:rPr sz="1200" b="1">
                <a:solidFill>
                  <a:srgbClr val="17212B"/>
                </a:solidFill>
                <a:latin typeface="Apple SD Gothic Neo"/>
              </a:rPr>
              <a:t>Macro F1</a:t>
            </a:r>
          </a:p>
          <a:p>
            <a:pPr algn="ctr"/>
            <a:r>
              <a:rPr sz="900" b="0">
                <a:solidFill>
                  <a:srgbClr val="5E6975"/>
                </a:solidFill>
                <a:latin typeface="Apple SD Gothic Neo"/>
              </a:rPr>
              <a:t>클래스 동일 가중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691640"/>
            <a:ext cx="16459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D95D5D"/>
                </a:solidFill>
                <a:latin typeface="Apple SD Gothic Neo"/>
              </a:rPr>
              <a:t>0.71</a:t>
            </a:r>
          </a:p>
          <a:p>
            <a:pPr algn="ctr"/>
            <a:r>
              <a:rPr sz="1200" b="1">
                <a:solidFill>
                  <a:srgbClr val="17212B"/>
                </a:solidFill>
                <a:latin typeface="Apple SD Gothic Neo"/>
              </a:rPr>
              <a:t>Weighted F1</a:t>
            </a:r>
          </a:p>
          <a:p>
            <a:pPr algn="ctr"/>
            <a:r>
              <a:rPr sz="900" b="0">
                <a:solidFill>
                  <a:srgbClr val="5E6975"/>
                </a:solidFill>
                <a:latin typeface="Apple SD Gothic Neo"/>
              </a:rPr>
              <a:t>샘플 수 반영</a:t>
            </a:r>
          </a:p>
        </p:txBody>
      </p:sp>
      <p:pic>
        <p:nvPicPr>
          <p:cNvPr id="8" name="Picture 7" descr="train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71800"/>
            <a:ext cx="4754880" cy="158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0" y="2971800"/>
            <a:ext cx="47548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600" b="1">
                <a:solidFill>
                  <a:srgbClr val="2E8B57"/>
                </a:solidFill>
                <a:latin typeface="Apple SD Gothic Neo"/>
              </a:rPr>
              <a:t>해석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학습이 진행되며 loss 감소, accuracy 상승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fine-tuning 이후 validation accuracy 개선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test accuracy가 validation보다 낮아 일반화 성능은 보수적으로 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65392"/>
            <a:ext cx="108813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E6975"/>
                </a:solidFill>
                <a:latin typeface="Apple SD Gothic Neo"/>
              </a:rPr>
              <a:t>Photo Geolocation Prediction using Deep Learning   | 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2860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6BFF"/>
                </a:solidFill>
                <a:latin typeface="Apple SD Gothic Neo"/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8686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Apple SD Gothic Neo"/>
              </a:rPr>
              <a:t>Accuracy만 보지 않고 precision, recall, F1과 혼동 행렬을 함께 봤다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493776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35040" y="1691640"/>
            <a:ext cx="49377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600" b="1">
                <a:solidFill>
                  <a:srgbClr val="2F6BFF"/>
                </a:solidFill>
                <a:latin typeface="Apple SD Gothic Neo"/>
              </a:rPr>
              <a:t>Accuracy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전체 테스트 중 맞춘 비율. 현재 74.07%.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2606040"/>
            <a:ext cx="49377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600" b="1">
                <a:solidFill>
                  <a:srgbClr val="F4A340"/>
                </a:solidFill>
                <a:latin typeface="Apple SD Gothic Neo"/>
              </a:rPr>
              <a:t>Precision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이 위치라고 예측한 것 중 실제로 맞은 비율.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3520440"/>
            <a:ext cx="49377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600" b="1">
                <a:solidFill>
                  <a:srgbClr val="2E8B57"/>
                </a:solidFill>
                <a:latin typeface="Apple SD Gothic Neo"/>
              </a:rPr>
              <a:t>Recall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실제 해당 위치 사진 중 모델이 찾아낸 비율.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4434840"/>
            <a:ext cx="49377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600" b="1">
                <a:solidFill>
                  <a:srgbClr val="D95D5D"/>
                </a:solidFill>
                <a:latin typeface="Apple SD Gothic Neo"/>
              </a:rPr>
              <a:t>F1-score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Precision과 Recall의 균형. 데이터가 불균형할 때 중요.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65392"/>
            <a:ext cx="108813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E6975"/>
                </a:solidFill>
                <a:latin typeface="Apple SD Gothic Neo"/>
              </a:rPr>
              <a:t>Photo Geolocation Prediction using Deep Learning   |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2860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6BFF"/>
                </a:solidFill>
                <a:latin typeface="Apple SD Gothic Neo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8686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Apple SD Gothic Neo"/>
              </a:rPr>
              <a:t>Streamlit UI에서 학습 실행과 예측 결과 확인까지 시연한다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86000"/>
            <a:ext cx="23317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400" b="1">
                <a:solidFill>
                  <a:srgbClr val="2F6BFF"/>
                </a:solidFill>
                <a:latin typeface="Apple SD Gothic Neo"/>
              </a:rPr>
              <a:t>1</a:t>
            </a:r>
          </a:p>
          <a:p>
            <a:r>
              <a:rPr sz="1200" b="0">
                <a:solidFill>
                  <a:srgbClr val="5E6975"/>
                </a:solidFill>
                <a:latin typeface="Apple SD Gothic Neo"/>
              </a:rPr>
              <a:t>Data &amp; Training</a:t>
            </a:r>
          </a:p>
          <a:p>
            <a:r>
              <a:rPr sz="1200" b="0">
                <a:solidFill>
                  <a:srgbClr val="5E6975"/>
                </a:solidFill>
                <a:latin typeface="Apple SD Gothic Neo"/>
              </a:rPr>
              <a:t>사진 폴더 경로 입력
Prepare and Train 실행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2286000"/>
            <a:ext cx="23317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400" b="1">
                <a:solidFill>
                  <a:srgbClr val="2F6BFF"/>
                </a:solidFill>
                <a:latin typeface="Apple SD Gothic Neo"/>
              </a:rPr>
              <a:t>2</a:t>
            </a:r>
          </a:p>
          <a:p>
            <a:r>
              <a:rPr sz="1200" b="0">
                <a:solidFill>
                  <a:srgbClr val="5E6975"/>
                </a:solidFill>
                <a:latin typeface="Apple SD Gothic Neo"/>
              </a:rPr>
              <a:t>Training Results</a:t>
            </a:r>
          </a:p>
          <a:p>
            <a:r>
              <a:rPr sz="1200" b="0">
                <a:solidFill>
                  <a:srgbClr val="5E6975"/>
                </a:solidFill>
                <a:latin typeface="Apple SD Gothic Neo"/>
              </a:rPr>
              <a:t>학습 곡선
classification report
confusion matrix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2286000"/>
            <a:ext cx="23317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400" b="1">
                <a:solidFill>
                  <a:srgbClr val="2F6BFF"/>
                </a:solidFill>
                <a:latin typeface="Apple SD Gothic Neo"/>
              </a:rPr>
              <a:t>3</a:t>
            </a:r>
          </a:p>
          <a:p>
            <a:r>
              <a:rPr sz="1200" b="0">
                <a:solidFill>
                  <a:srgbClr val="5E6975"/>
                </a:solidFill>
                <a:latin typeface="Apple SD Gothic Neo"/>
              </a:rPr>
              <a:t>Photo Prediction</a:t>
            </a:r>
          </a:p>
          <a:p>
            <a:r>
              <a:rPr sz="1200" b="0">
                <a:solidFill>
                  <a:srgbClr val="5E6975"/>
                </a:solidFill>
                <a:latin typeface="Apple SD Gothic Neo"/>
              </a:rPr>
              <a:t>새 사진 업로드
Top-3 예측 확률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59" y="2286000"/>
            <a:ext cx="23317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400" b="1">
                <a:solidFill>
                  <a:srgbClr val="2F6BFF"/>
                </a:solidFill>
                <a:latin typeface="Apple SD Gothic Neo"/>
              </a:rPr>
              <a:t>4</a:t>
            </a:r>
          </a:p>
          <a:p>
            <a:r>
              <a:rPr sz="1200" b="0">
                <a:solidFill>
                  <a:srgbClr val="5E6975"/>
                </a:solidFill>
                <a:latin typeface="Apple SD Gothic Neo"/>
              </a:rPr>
              <a:t>Grad-CAM</a:t>
            </a:r>
          </a:p>
          <a:p>
            <a:r>
              <a:rPr sz="1200" b="0">
                <a:solidFill>
                  <a:srgbClr val="5E6975"/>
                </a:solidFill>
                <a:latin typeface="Apple SD Gothic Neo"/>
              </a:rPr>
              <a:t>모델이 본 영역을
heatmap으로 설명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983480"/>
            <a:ext cx="100584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400" b="1">
                <a:solidFill>
                  <a:srgbClr val="2E8B57"/>
                </a:solidFill>
                <a:latin typeface="Apple SD Gothic Neo"/>
              </a:rPr>
              <a:t>시연 멘트</a:t>
            </a:r>
          </a:p>
          <a:p>
            <a:r>
              <a:rPr sz="1200" b="0">
                <a:solidFill>
                  <a:srgbClr val="17212B"/>
                </a:solidFill>
                <a:latin typeface="Apple SD Gothic Neo"/>
              </a:rPr>
              <a:t>이 UI는 외부 API가 아니라 로컬 모델 파일 best_resnet50.pth를 불러와 예측합니다.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65392"/>
            <a:ext cx="108813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E6975"/>
                </a:solidFill>
                <a:latin typeface="Apple SD Gothic Neo"/>
              </a:rPr>
              <a:t>Photo Geolocation Prediction using Deep Learning   | 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2860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6BFF"/>
                </a:solidFill>
                <a:latin typeface="Apple SD Gothic Neo"/>
              </a:rPr>
              <a:t>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8686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Apple SD Gothic Neo"/>
              </a:rPr>
              <a:t>작동하는 파이프라인은 만들었지만, 데이터 품질이 성능을 크게 좌우했다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20240"/>
            <a:ext cx="324612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600" b="1">
                <a:solidFill>
                  <a:srgbClr val="2E8B57"/>
                </a:solidFill>
                <a:latin typeface="Apple SD Gothic Neo"/>
              </a:rPr>
              <a:t>잘 된 점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ResNet50 전이학습 baseline 구현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학습/평가/예측/Grad-CAM/UI 연결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테스트셋 기준 74.07% 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1960" y="1920240"/>
            <a:ext cx="324612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600" b="1">
                <a:solidFill>
                  <a:srgbClr val="D95D5D"/>
                </a:solidFill>
                <a:latin typeface="Apple SD Gothic Neo"/>
              </a:rPr>
              <a:t>한계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클래스별 이미지 수가 불균형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일부 클래스 test support가 작음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비슷한 장소는 혼동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920240"/>
            <a:ext cx="324612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600" b="1">
                <a:solidFill>
                  <a:srgbClr val="2F6BFF"/>
                </a:solidFill>
                <a:latin typeface="Apple SD Gothic Neo"/>
              </a:rPr>
              <a:t>다음 단계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클래스별 사진 수 균형 맞추기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EfficientNetB0 / ViT 비교</a:t>
            </a:r>
          </a:p>
          <a:p>
            <a:r>
              <a:rPr sz="1400" b="0">
                <a:solidFill>
                  <a:srgbClr val="17212B"/>
                </a:solidFill>
                <a:latin typeface="Apple SD Gothic Neo"/>
              </a:rPr>
              <a:t>• unknown location threshold 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892040"/>
            <a:ext cx="101498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9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/>
          <a:lstStyle/>
          <a:p>
            <a:pPr algn="ctr"/>
            <a:r>
              <a:rPr sz="1400" b="1">
                <a:solidFill>
                  <a:srgbClr val="F4A340"/>
                </a:solidFill>
                <a:latin typeface="Apple SD Gothic Neo"/>
              </a:rPr>
              <a:t>결론</a:t>
            </a:r>
          </a:p>
          <a:p>
            <a:r>
              <a:rPr sz="1200" b="0">
                <a:solidFill>
                  <a:srgbClr val="17212B"/>
                </a:solidFill>
                <a:latin typeface="Apple SD Gothic Neo"/>
              </a:rPr>
              <a:t>작은 데이터셋에서도 전이학습을 사용하면 완성형 딥러닝 데모를 만들 수 있지만, 실제 성능은 데이터 균형과 테스트셋 크기에 크게 의존한다.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108813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E6975"/>
                </a:solidFill>
                <a:latin typeface="Apple SD Gothic Neo"/>
              </a:rPr>
              <a:t>Photo Geolocation Prediction using Deep Learning   |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